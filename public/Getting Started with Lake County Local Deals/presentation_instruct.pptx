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0191750" cy="6191250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presProps" Target="presProps.xml"/>
  <Relationship Id="rId17" Type="http://schemas.openxmlformats.org/officeDocument/2006/relationships/viewProps" Target="viewProps.xml"/>
  <Relationship Id="rId18" Type="http://schemas.openxmlformats.org/officeDocument/2006/relationships/tableStyles" Target="tableStyles.xml"/>
</Relationships>
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476250" y="476250"/>
          <a:ext cx="8096250" cy="6000750"/>
          <a:chOff x="476250" y="476250"/>
          <a:chExt cx="8096250" cy="600075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4048125" cy="3000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>
          <a:xfrm>
            <a:off x="476250" y="3476625"/>
            <a:ext cx="5486400" cy="3600450"/>
          </a:xfrm>
          <a:prstGeom prst="rect">
            <a:avLst/>
          </a:prstGeom>
        </p:spPr>
        <p:txBody>
          <a:bodyPr/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Key concepts to cover: Discuss the main concepts and theories that students need to understand for this topic.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Main teaching points: Highlight the most important learning objectives and key takeaways from this section.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Important topics: Cover the essential topics that form the foundation of understanding for this subject area.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Discussion points: Encourage student participation by asking questions and facilitating group discussions about the material.]]>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476250" y="476250"/>
          <a:ext cx="8096250" cy="6000750"/>
          <a:chOff x="476250" y="476250"/>
          <a:chExt cx="8096250" cy="600075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4048125" cy="3000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>
          <a:xfrm>
            <a:off x="476250" y="3476625"/>
            <a:ext cx="5486400" cy="3600450"/>
          </a:xfrm>
          <a:prstGeom prst="rect">
            <a:avLst/>
          </a:prstGeom>
        </p:spPr>
        <p:txBody>
          <a:bodyPr/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Key concepts to cover: Discuss the main concepts and theories that students need to understand for this topic.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Main teaching points: Highlight the most important learning objectives and key takeaways from this section.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Important topics: Cover the essential topics that form the foundation of understanding for this subject area.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Discussion points: Encourage student participation by asking questions and facilitating group discussions about the material.]]></a:t>
            </a: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476250" y="476250"/>
          <a:ext cx="8096250" cy="6000750"/>
          <a:chOff x="476250" y="476250"/>
          <a:chExt cx="8096250" cy="600075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4048125" cy="3000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>
          <a:xfrm>
            <a:off x="476250" y="3476625"/>
            <a:ext cx="5486400" cy="3600450"/>
          </a:xfrm>
          <a:prstGeom prst="rect">
            <a:avLst/>
          </a:prstGeom>
        </p:spPr>
        <p:txBody>
          <a:bodyPr/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Key concepts to cover: Discuss the main concepts and theories that students need to understand for this topic.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Main teaching points: Highlight the most important learning objectives and key takeaways from this section.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Important topics: Cover the essential topics that form the foundation of understanding for this subject area.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Discussion points: Encourage student participation by asking questions and facilitating group discussions about the material.]]></a:t>
            </a: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476250" y="476250"/>
          <a:ext cx="8096250" cy="6000750"/>
          <a:chOff x="476250" y="476250"/>
          <a:chExt cx="8096250" cy="600075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4048125" cy="3000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>
          <a:xfrm>
            <a:off x="476250" y="3476625"/>
            <a:ext cx="5486400" cy="3600450"/>
          </a:xfrm>
          <a:prstGeom prst="rect">
            <a:avLst/>
          </a:prstGeom>
        </p:spPr>
        <p:txBody>
          <a:bodyPr/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Key concepts to cover: Discuss the main concepts and theories that students need to understand for this topic.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Main teaching points: Highlight the most important learning objectives and key takeaways from this section.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Important topics: Cover the essential topics that form the foundation of understanding for this subject area.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Discussion points: Encourage student participation by asking questions and facilitating group discussions about the material.]]></a:t>
            </a: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476250" y="476250"/>
          <a:ext cx="8096250" cy="6000750"/>
          <a:chOff x="476250" y="476250"/>
          <a:chExt cx="8096250" cy="600075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4048125" cy="3000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>
          <a:xfrm>
            <a:off x="476250" y="3476625"/>
            <a:ext cx="5486400" cy="3600450"/>
          </a:xfrm>
          <a:prstGeom prst="rect">
            <a:avLst/>
          </a:prstGeom>
        </p:spPr>
        <p:txBody>
          <a:bodyPr/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Key concepts to cover: Discuss the main concepts and theories that students need to understand for this topic.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Main teaching points: Highlight the most important learning objectives and key takeaways from this section.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Important topics: Cover the essential topics that form the foundation of understanding for this subject area.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Discussion points: Encourage student participation by asking questions and facilitating group discussions about the material.]]></a:t>
            </a: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476250" y="476250"/>
          <a:ext cx="8096250" cy="6000750"/>
          <a:chOff x="476250" y="476250"/>
          <a:chExt cx="8096250" cy="600075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4048125" cy="3000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>
          <a:xfrm>
            <a:off x="476250" y="3476625"/>
            <a:ext cx="5486400" cy="3600450"/>
          </a:xfrm>
          <a:prstGeom prst="rect">
            <a:avLst/>
          </a:prstGeom>
        </p:spPr>
        <p:txBody>
          <a:bodyPr/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Key concepts to cover: Discuss the main concepts and theories that students need to understand for this topic.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Main teaching points: Highlight the most important learning objectives and key takeaways from this section.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Important topics: Cover the essential topics that form the foundation of understanding for this subject area.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Discussion points: Encourage student participation by asking questions and facilitating group discussions about the material.]]></a:t>
            </a: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476250" y="476250"/>
          <a:ext cx="8096250" cy="6000750"/>
          <a:chOff x="476250" y="476250"/>
          <a:chExt cx="8096250" cy="600075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4048125" cy="3000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>
          <a:xfrm>
            <a:off x="476250" y="3476625"/>
            <a:ext cx="5486400" cy="3600450"/>
          </a:xfrm>
          <a:prstGeom prst="rect">
            <a:avLst/>
          </a:prstGeom>
        </p:spPr>
        <p:txBody>
          <a:bodyPr/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Key concepts to cover: Discuss the main concepts and theories that students need to understand for this topic.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Main teaching points: Highlight the most important learning objectives and key takeaways from this section.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Important topics: Cover the essential topics that form the foundation of understanding for this subject area.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Discussion points: Encourage student participation by asking questions and facilitating group discussions about the material.]]></a:t>
            </a: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476250" y="476250"/>
          <a:ext cx="8096250" cy="6000750"/>
          <a:chOff x="476250" y="476250"/>
          <a:chExt cx="8096250" cy="600075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4048125" cy="3000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>
          <a:xfrm>
            <a:off x="476250" y="3476625"/>
            <a:ext cx="5486400" cy="3600450"/>
          </a:xfrm>
          <a:prstGeom prst="rect">
            <a:avLst/>
          </a:prstGeom>
        </p:spPr>
        <p:txBody>
          <a:bodyPr/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Key concepts to cover: Discuss the main concepts and theories that students need to understand for this topic.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Main teaching points: Highlight the most important learning objectives and key takeaways from this section.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Important topics: Cover the essential topics that form the foundation of understanding for this subject area.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Discussion points: Encourage student participation by asking questions and facilitating group discussions about the material.]]></a:t>
            </a: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476250" y="476250"/>
          <a:ext cx="8096250" cy="6000750"/>
          <a:chOff x="476250" y="476250"/>
          <a:chExt cx="8096250" cy="600075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4048125" cy="3000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>
          <a:xfrm>
            <a:off x="476250" y="3476625"/>
            <a:ext cx="5486400" cy="3600450"/>
          </a:xfrm>
          <a:prstGeom prst="rect">
            <a:avLst/>
          </a:prstGeom>
        </p:spPr>
        <p:txBody>
          <a:bodyPr/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Key concepts to cover: Discuss the main concepts and theories that students need to understand for this topic.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Main teaching points: Highlight the most important learning objectives and key takeaways from this section.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Important topics: Cover the essential topics that form the foundation of understanding for this subject area.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Discussion points: Encourage student participation by asking questions and facilitating group discussions about the material.]]></a:t>
            </a: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476250" y="476250"/>
          <a:ext cx="8096250" cy="6000750"/>
          <a:chOff x="476250" y="476250"/>
          <a:chExt cx="8096250" cy="600075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4048125" cy="3000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>
          <a:xfrm>
            <a:off x="476250" y="3476625"/>
            <a:ext cx="5486400" cy="3600450"/>
          </a:xfrm>
          <a:prstGeom prst="rect">
            <a:avLst/>
          </a:prstGeom>
        </p:spPr>
        <p:txBody>
          <a:bodyPr/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Key concepts to cover: Discuss the main concepts and theories that students need to understand for this topic.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Main teaching points: Highlight the most important learning objectives and key takeaways from this section.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Important topics: Cover the essential topics that form the foundation of understanding for this subject area.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Discussion points: Encourage student participation by asking questions and facilitating group discussions about the material.]]></a:t>
            </a: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476250" y="476250"/>
          <a:ext cx="8096250" cy="6000750"/>
          <a:chOff x="476250" y="476250"/>
          <a:chExt cx="8096250" cy="600075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4048125" cy="3000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>
          <a:xfrm>
            <a:off x="476250" y="3476625"/>
            <a:ext cx="5486400" cy="3600450"/>
          </a:xfrm>
          <a:prstGeom prst="rect">
            <a:avLst/>
          </a:prstGeom>
        </p:spPr>
        <p:txBody>
          <a:bodyPr/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Key concepts to cover: Discuss the main concepts and theories that students need to understand for this topic.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Main teaching points: Highlight the most important learning objectives and key takeaways from this section.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Important topics: Cover the essential topics that form the foundation of understanding for this subject area.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Discussion points: Encourage student participation by asking questions and facilitating group discussions about the material.]]></a:t>
            </a: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476250" y="476250"/>
          <a:ext cx="8096250" cy="6000750"/>
          <a:chOff x="476250" y="476250"/>
          <a:chExt cx="8096250" cy="600075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4048125" cy="3000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>
          <a:xfrm>
            <a:off x="476250" y="3476625"/>
            <a:ext cx="5486400" cy="3600450"/>
          </a:xfrm>
          <a:prstGeom prst="rect">
            <a:avLst/>
          </a:prstGeom>
        </p:spPr>
        <p:txBody>
          <a:bodyPr/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Key concepts to cover: Discuss the main concepts and theories that students need to understand for this topic.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Main teaching points: Highlight the most important learning objectives and key takeaways from this section.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Important topics: Cover the essential topics that form the foundation of understanding for this subject area.]]></a:t>
            </a:r>
          </a:p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Discussion points: Encourage student participation by asking questions and facilitating group discussions about the material.]]>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55030349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promo1.jpg"/>
  <Relationship Id="rId3" Type="http://schemas.openxmlformats.org/officeDocument/2006/relationships/image" Target="../media/openelms_ai_logo2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ai-1766013779-6913.jpg"/>
  <Relationship Id="rId3" Type="http://schemas.openxmlformats.org/officeDocument/2006/relationships/image" Target="../media/openelms_ai_logo4.png"/>
  <Relationship Id="rId4" Type="http://schemas.openxmlformats.org/officeDocument/2006/relationships/notesSlide" Target="../notesSlides/notesSlide2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ai-1766013793-7065.jpg"/>
  <Relationship Id="rId3" Type="http://schemas.openxmlformats.org/officeDocument/2006/relationships/image" Target="../media/openelms_ai_logo6.png"/>
  <Relationship Id="rId4" Type="http://schemas.openxmlformats.org/officeDocument/2006/relationships/notesSlide" Target="../notesSlides/notesSlide3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ai-1766013806-587.jpg"/>
  <Relationship Id="rId3" Type="http://schemas.openxmlformats.org/officeDocument/2006/relationships/image" Target="../media/openelms_ai_logo8.png"/>
  <Relationship Id="rId4" Type="http://schemas.openxmlformats.org/officeDocument/2006/relationships/notesSlide" Target="../notesSlides/notesSlide4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ai-1766013821-9779.jpg"/>
  <Relationship Id="rId3" Type="http://schemas.openxmlformats.org/officeDocument/2006/relationships/image" Target="../media/openelms_ai_logo10.png"/>
  <Relationship Id="rId4" Type="http://schemas.openxmlformats.org/officeDocument/2006/relationships/notesSlide" Target="../notesSlides/notesSlide5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ai-1766013836-6511.jpg"/>
  <Relationship Id="rId3" Type="http://schemas.openxmlformats.org/officeDocument/2006/relationships/image" Target="../media/openelms_ai_logo12.png"/>
  <Relationship Id="rId4" Type="http://schemas.openxmlformats.org/officeDocument/2006/relationships/notesSlide" Target="../notesSlides/notesSlide6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ai-1766013849-36913.jpg"/>
  <Relationship Id="rId3" Type="http://schemas.openxmlformats.org/officeDocument/2006/relationships/image" Target="../media/openelms_ai_logo14.png"/>
  <Relationship Id="rId4" Type="http://schemas.openxmlformats.org/officeDocument/2006/relationships/notesSlide" Target="../notesSlides/notesSlide7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ai-1766013863-54415.jpg"/>
  <Relationship Id="rId3" Type="http://schemas.openxmlformats.org/officeDocument/2006/relationships/image" Target="../media/openelms_ai_logo16.png"/>
  <Relationship Id="rId4" Type="http://schemas.openxmlformats.org/officeDocument/2006/relationships/notesSlide" Target="../notesSlides/notesSlide8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ai-1766013877-53717.jpg"/>
  <Relationship Id="rId3" Type="http://schemas.openxmlformats.org/officeDocument/2006/relationships/image" Target="../media/openelms_ai_logo18.png"/>
  <Relationship Id="rId4" Type="http://schemas.openxmlformats.org/officeDocument/2006/relationships/notesSlide" Target="../notesSlides/notesSlide9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ai-1766013890-88619.jpg"/>
  <Relationship Id="rId3" Type="http://schemas.openxmlformats.org/officeDocument/2006/relationships/image" Target="../media/openelms_ai_logo20.png"/>
  <Relationship Id="rId4" Type="http://schemas.openxmlformats.org/officeDocument/2006/relationships/notesSlide" Target="../notesSlides/notesSlide10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ai-1766013905-45321.jpg"/>
  <Relationship Id="rId3" Type="http://schemas.openxmlformats.org/officeDocument/2006/relationships/image" Target="../media/openelms_ai_logo22.png"/>
  <Relationship Id="rId4" Type="http://schemas.openxmlformats.org/officeDocument/2006/relationships/notesSlide" Target="../notesSlides/notesSlide11.xml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ai-1766013920-92223.jpg"/>
  <Relationship Id="rId3" Type="http://schemas.openxmlformats.org/officeDocument/2006/relationships/image" Target="../media/openelms_ai_logo24.png"/>
  <Relationship Id="rId4" Type="http://schemas.openxmlformats.org/officeDocument/2006/relationships/notesSlide" Target="../notesSlides/notesSlide12.xml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ai-1766013934-2825.jpg"/>
  <Relationship Id="rId3" Type="http://schemas.openxmlformats.org/officeDocument/2006/relationships/image" Target="../media/openelms_ai_logo26.png"/>
  <Relationship Id="rId4" Type="http://schemas.openxmlformats.org/officeDocument/2006/relationships/notesSlide" Target="../notesSlides/notesSlide13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0191750" cy="6191250"/>
          <a:chOff x="0" y="0"/>
          <a:chExt cx="10191750" cy="6191250"/>
        </a:xfrm>
      </p:grpSpPr>
      <p:pic>
        <p:nvPicPr>
          <p:cNvPr id="2" name="Promo Image" descr="Course Promo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191750" cy="6191250"/>
          </a:xfrm>
          <a:prstGeom prst="rect">
            <a:avLst/>
          </a:prstGeom>
          <a:noFill/>
        </p:spPr>
      </p:pic>
      <p:pic>
        <p:nvPicPr>
          <p:cNvPr id="3" name="Logo" descr="Compan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5143500"/>
            <a:ext cx="1428750" cy="4857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0191750" cy="6191250"/>
          <a:chOff x="0" y="0"/>
          <a:chExt cx="10191750" cy="6191250"/>
        </a:xfrm>
      </p:grpSpPr>
      <p:pic>
        <p:nvPicPr>
          <p:cNvPr id="2" name="Background Image" descr="Section Background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191750" cy="6191250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4953000" y="333375"/>
            <a:ext cx="4953000" cy="5524500"/>
          </a:xfrm>
          <a:prstGeom prst="rect">
            <a:avLst/>
          </a:prstGeom>
          <a:solidFill>
            <a:srgbClr val="F0F0F0">
              <a:alpha val="94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 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143500" y="476250"/>
            <a:ext cx="4572000" cy="571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Welcome to Lake County Local Deal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143500" y="1333500"/>
            <a:ext cx="4572000" cy="428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95250" marR="0" indent="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buChar char="•"/>
            </a:pPr>
            <a:r>
              <a:rPr lang="en-US" strike="noStrike" sz="18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Key concepts to cover]]></a:t>
            </a:r>
          </a:p>
          <a:p>
            <a:pPr algn="l" rtl="0" fontAlgn="base" marL="95250" marR="0" indent="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buChar char="•"/>
            </a:pPr>
            <a:r>
              <a:rPr lang="en-US" strike="noStrike" sz="18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Main teaching points]]></a:t>
            </a:r>
          </a:p>
          <a:p>
            <a:pPr algn="l" rtl="0" fontAlgn="base" marL="95250" marR="0" indent="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buChar char="•"/>
            </a:pPr>
            <a:r>
              <a:rPr lang="en-US" strike="noStrike" sz="18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Important topics]]></a:t>
            </a:r>
          </a:p>
          <a:p>
            <a:pPr algn="l" rtl="0" fontAlgn="base" marL="95250" marR="0" indent="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buChar char="•"/>
            </a:pPr>
            <a:r>
              <a:rPr lang="en-US" strike="noStrike" sz="18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Discussion points]]></a:t>
            </a:r>
          </a:p>
        </p:txBody>
      </p:sp>
      <p:pic>
        <p:nvPicPr>
          <p:cNvPr id="6" name="Logo" descr="Compan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190500"/>
            <a:ext cx="1524000" cy="5143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0191750" cy="6191250"/>
          <a:chOff x="0" y="0"/>
          <a:chExt cx="10191750" cy="6191250"/>
        </a:xfrm>
      </p:grpSpPr>
      <p:pic>
        <p:nvPicPr>
          <p:cNvPr id="2" name="Background Image" descr="Section Background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191750" cy="6191250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4953000" y="333375"/>
            <a:ext cx="4953000" cy="5524500"/>
          </a:xfrm>
          <a:prstGeom prst="rect">
            <a:avLst/>
          </a:prstGeom>
          <a:solidFill>
            <a:srgbClr val="F0F0F0">
              <a:alpha val="94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 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143500" y="476250"/>
            <a:ext cx="4572000" cy="571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Understanding Lake County Local Deal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143500" y="1333500"/>
            <a:ext cx="4572000" cy="428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95250" marR="0" indent="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buChar char="•"/>
            </a:pPr>
            <a:r>
              <a:rPr lang="en-US" strike="noStrike" sz="18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Key concepts to cover]]></a:t>
            </a:r>
          </a:p>
          <a:p>
            <a:pPr algn="l" rtl="0" fontAlgn="base" marL="95250" marR="0" indent="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buChar char="•"/>
            </a:pPr>
            <a:r>
              <a:rPr lang="en-US" strike="noStrike" sz="18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Main teaching points]]></a:t>
            </a:r>
          </a:p>
          <a:p>
            <a:pPr algn="l" rtl="0" fontAlgn="base" marL="95250" marR="0" indent="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buChar char="•"/>
            </a:pPr>
            <a:r>
              <a:rPr lang="en-US" strike="noStrike" sz="18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Important topics]]></a:t>
            </a:r>
          </a:p>
          <a:p>
            <a:pPr algn="l" rtl="0" fontAlgn="base" marL="95250" marR="0" indent="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buChar char="•"/>
            </a:pPr>
            <a:r>
              <a:rPr lang="en-US" strike="noStrike" sz="18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Discussion points]]></a:t>
            </a:r>
          </a:p>
        </p:txBody>
      </p:sp>
      <p:pic>
        <p:nvPicPr>
          <p:cNvPr id="6" name="Logo" descr="Compan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190500"/>
            <a:ext cx="1524000" cy="5143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0191750" cy="6191250"/>
          <a:chOff x="0" y="0"/>
          <a:chExt cx="10191750" cy="6191250"/>
        </a:xfrm>
      </p:grpSpPr>
      <p:pic>
        <p:nvPicPr>
          <p:cNvPr id="2" name="Background Image" descr="Section Background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191750" cy="6191250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4953000" y="333375"/>
            <a:ext cx="4953000" cy="5524500"/>
          </a:xfrm>
          <a:prstGeom prst="rect">
            <a:avLst/>
          </a:prstGeom>
          <a:solidFill>
            <a:srgbClr val="F0F0F0">
              <a:alpha val="94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 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143500" y="476250"/>
            <a:ext cx="4572000" cy="571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A Dedicated Local Deal Marketplace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143500" y="1333500"/>
            <a:ext cx="4572000" cy="428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95250" marR="0" indent="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buChar char="•"/>
            </a:pPr>
            <a:r>
              <a:rPr lang="en-US" strike="noStrike" sz="18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Key concepts to cover]]></a:t>
            </a:r>
          </a:p>
          <a:p>
            <a:pPr algn="l" rtl="0" fontAlgn="base" marL="95250" marR="0" indent="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buChar char="•"/>
            </a:pPr>
            <a:r>
              <a:rPr lang="en-US" strike="noStrike" sz="18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Main teaching points]]></a:t>
            </a:r>
          </a:p>
          <a:p>
            <a:pPr algn="l" rtl="0" fontAlgn="base" marL="95250" marR="0" indent="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buChar char="•"/>
            </a:pPr>
            <a:r>
              <a:rPr lang="en-US" strike="noStrike" sz="18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Important topics]]></a:t>
            </a:r>
          </a:p>
          <a:p>
            <a:pPr algn="l" rtl="0" fontAlgn="base" marL="95250" marR="0" indent="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buChar char="•"/>
            </a:pPr>
            <a:r>
              <a:rPr lang="en-US" strike="noStrike" sz="18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Discussion points]]></a:t>
            </a:r>
          </a:p>
        </p:txBody>
      </p:sp>
      <p:pic>
        <p:nvPicPr>
          <p:cNvPr id="6" name="Logo" descr="Compan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190500"/>
            <a:ext cx="1524000" cy="5143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0191750" cy="6191250"/>
          <a:chOff x="0" y="0"/>
          <a:chExt cx="10191750" cy="6191250"/>
        </a:xfrm>
      </p:grpSpPr>
      <p:pic>
        <p:nvPicPr>
          <p:cNvPr id="2" name="Background Image" descr="Section Background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191750" cy="6191250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4953000" y="333375"/>
            <a:ext cx="4953000" cy="5524500"/>
          </a:xfrm>
          <a:prstGeom prst="rect">
            <a:avLst/>
          </a:prstGeom>
          <a:solidFill>
            <a:srgbClr val="F0F0F0">
              <a:alpha val="94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 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143500" y="476250"/>
            <a:ext cx="4572000" cy="571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Supporting Small Businesses, Not Just a Platform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143500" y="1333500"/>
            <a:ext cx="4572000" cy="428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95250" marR="0" indent="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buChar char="•"/>
            </a:pPr>
            <a:r>
              <a:rPr lang="en-US" strike="noStrike" sz="18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Key concepts to cover]]></a:t>
            </a:r>
          </a:p>
          <a:p>
            <a:pPr algn="l" rtl="0" fontAlgn="base" marL="95250" marR="0" indent="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buChar char="•"/>
            </a:pPr>
            <a:r>
              <a:rPr lang="en-US" strike="noStrike" sz="18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Main teaching points]]></a:t>
            </a:r>
          </a:p>
          <a:p>
            <a:pPr algn="l" rtl="0" fontAlgn="base" marL="95250" marR="0" indent="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buChar char="•"/>
            </a:pPr>
            <a:r>
              <a:rPr lang="en-US" strike="noStrike" sz="18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Important topics]]></a:t>
            </a:r>
          </a:p>
          <a:p>
            <a:pPr algn="l" rtl="0" fontAlgn="base" marL="95250" marR="0" indent="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buChar char="•"/>
            </a:pPr>
            <a:r>
              <a:rPr lang="en-US" strike="noStrike" sz="18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Discussion points]]></a:t>
            </a:r>
          </a:p>
        </p:txBody>
      </p:sp>
      <p:pic>
        <p:nvPicPr>
          <p:cNvPr id="6" name="Logo" descr="Compan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190500"/>
            <a:ext cx="1524000" cy="5143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0191750" cy="6191250"/>
          <a:chOff x="0" y="0"/>
          <a:chExt cx="10191750" cy="6191250"/>
        </a:xfrm>
      </p:grpSpPr>
      <p:pic>
        <p:nvPicPr>
          <p:cNvPr id="2" name="Background Image" descr="Section Background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191750" cy="6191250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4953000" y="333375"/>
            <a:ext cx="4953000" cy="5524500"/>
          </a:xfrm>
          <a:prstGeom prst="rect">
            <a:avLst/>
          </a:prstGeom>
          <a:solidFill>
            <a:srgbClr val="F0F0F0">
              <a:alpha val="94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 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143500" y="476250"/>
            <a:ext cx="4572000" cy="571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Subscription Model: How it Work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143500" y="1333500"/>
            <a:ext cx="4572000" cy="428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95250" marR="0" indent="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buChar char="•"/>
            </a:pPr>
            <a:r>
              <a:rPr lang="en-US" strike="noStrike" sz="18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Key concepts to cover]]></a:t>
            </a:r>
          </a:p>
          <a:p>
            <a:pPr algn="l" rtl="0" fontAlgn="base" marL="95250" marR="0" indent="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buChar char="•"/>
            </a:pPr>
            <a:r>
              <a:rPr lang="en-US" strike="noStrike" sz="18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Main teaching points]]></a:t>
            </a:r>
          </a:p>
          <a:p>
            <a:pPr algn="l" rtl="0" fontAlgn="base" marL="95250" marR="0" indent="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buChar char="•"/>
            </a:pPr>
            <a:r>
              <a:rPr lang="en-US" strike="noStrike" sz="18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Important topics]]></a:t>
            </a:r>
          </a:p>
          <a:p>
            <a:pPr algn="l" rtl="0" fontAlgn="base" marL="95250" marR="0" indent="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buChar char="•"/>
            </a:pPr>
            <a:r>
              <a:rPr lang="en-US" strike="noStrike" sz="18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Discussion points]]></a:t>
            </a:r>
          </a:p>
        </p:txBody>
      </p:sp>
      <p:pic>
        <p:nvPicPr>
          <p:cNvPr id="6" name="Logo" descr="Compan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190500"/>
            <a:ext cx="1524000" cy="5143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0191750" cy="6191250"/>
          <a:chOff x="0" y="0"/>
          <a:chExt cx="10191750" cy="6191250"/>
        </a:xfrm>
      </p:grpSpPr>
      <p:pic>
        <p:nvPicPr>
          <p:cNvPr id="2" name="Background Image" descr="Section Background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191750" cy="6191250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4953000" y="333375"/>
            <a:ext cx="4953000" cy="5524500"/>
          </a:xfrm>
          <a:prstGeom prst="rect">
            <a:avLst/>
          </a:prstGeom>
          <a:solidFill>
            <a:srgbClr val="F0F0F0">
              <a:alpha val="94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 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143500" y="476250"/>
            <a:ext cx="4572000" cy="571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Key Benefit: Keep 100% of Revenue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143500" y="1333500"/>
            <a:ext cx="4572000" cy="428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95250" marR="0" indent="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buChar char="•"/>
            </a:pPr>
            <a:r>
              <a:rPr lang="en-US" strike="noStrike" sz="18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Key concepts to cover]]></a:t>
            </a:r>
          </a:p>
          <a:p>
            <a:pPr algn="l" rtl="0" fontAlgn="base" marL="95250" marR="0" indent="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buChar char="•"/>
            </a:pPr>
            <a:r>
              <a:rPr lang="en-US" strike="noStrike" sz="18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Main teaching points]]></a:t>
            </a:r>
          </a:p>
          <a:p>
            <a:pPr algn="l" rtl="0" fontAlgn="base" marL="95250" marR="0" indent="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buChar char="•"/>
            </a:pPr>
            <a:r>
              <a:rPr lang="en-US" strike="noStrike" sz="18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Important topics]]></a:t>
            </a:r>
          </a:p>
          <a:p>
            <a:pPr algn="l" rtl="0" fontAlgn="base" marL="95250" marR="0" indent="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buChar char="•"/>
            </a:pPr>
            <a:r>
              <a:rPr lang="en-US" strike="noStrike" sz="18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Discussion points]]></a:t>
            </a:r>
          </a:p>
        </p:txBody>
      </p:sp>
      <p:pic>
        <p:nvPicPr>
          <p:cNvPr id="6" name="Logo" descr="Compan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190500"/>
            <a:ext cx="1524000" cy="5143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0191750" cy="6191250"/>
          <a:chOff x="0" y="0"/>
          <a:chExt cx="10191750" cy="6191250"/>
        </a:xfrm>
      </p:grpSpPr>
      <p:pic>
        <p:nvPicPr>
          <p:cNvPr id="2" name="Background Image" descr="Section Background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191750" cy="6191250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4953000" y="333375"/>
            <a:ext cx="4953000" cy="5524500"/>
          </a:xfrm>
          <a:prstGeom prst="rect">
            <a:avLst/>
          </a:prstGeom>
          <a:solidFill>
            <a:srgbClr val="F0F0F0">
              <a:alpha val="94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 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143500" y="476250"/>
            <a:ext cx="4572000" cy="571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No Commission, Just Subscriptio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143500" y="1333500"/>
            <a:ext cx="4572000" cy="428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95250" marR="0" indent="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buChar char="•"/>
            </a:pPr>
            <a:r>
              <a:rPr lang="en-US" strike="noStrike" sz="18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Key concepts to cover]]></a:t>
            </a:r>
          </a:p>
          <a:p>
            <a:pPr algn="l" rtl="0" fontAlgn="base" marL="95250" marR="0" indent="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buChar char="•"/>
            </a:pPr>
            <a:r>
              <a:rPr lang="en-US" strike="noStrike" sz="18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Main teaching points]]></a:t>
            </a:r>
          </a:p>
          <a:p>
            <a:pPr algn="l" rtl="0" fontAlgn="base" marL="95250" marR="0" indent="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buChar char="•"/>
            </a:pPr>
            <a:r>
              <a:rPr lang="en-US" strike="noStrike" sz="18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Important topics]]></a:t>
            </a:r>
          </a:p>
          <a:p>
            <a:pPr algn="l" rtl="0" fontAlgn="base" marL="95250" marR="0" indent="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buChar char="•"/>
            </a:pPr>
            <a:r>
              <a:rPr lang="en-US" strike="noStrike" sz="18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Discussion points]]></a:t>
            </a:r>
          </a:p>
        </p:txBody>
      </p:sp>
      <p:pic>
        <p:nvPicPr>
          <p:cNvPr id="6" name="Logo" descr="Compan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190500"/>
            <a:ext cx="1524000" cy="5143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0191750" cy="6191250"/>
          <a:chOff x="0" y="0"/>
          <a:chExt cx="10191750" cy="6191250"/>
        </a:xfrm>
      </p:grpSpPr>
      <p:pic>
        <p:nvPicPr>
          <p:cNvPr id="2" name="Background Image" descr="Section Background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191750" cy="6191250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4953000" y="333375"/>
            <a:ext cx="4953000" cy="5524500"/>
          </a:xfrm>
          <a:prstGeom prst="rect">
            <a:avLst/>
          </a:prstGeom>
          <a:solidFill>
            <a:srgbClr val="F0F0F0">
              <a:alpha val="94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 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143500" y="476250"/>
            <a:ext cx="4572000" cy="571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Community Focus: Lake County Only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143500" y="1333500"/>
            <a:ext cx="4572000" cy="428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95250" marR="0" indent="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buChar char="•"/>
            </a:pPr>
            <a:r>
              <a:rPr lang="en-US" strike="noStrike" sz="18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Key concepts to cover]]></a:t>
            </a:r>
          </a:p>
          <a:p>
            <a:pPr algn="l" rtl="0" fontAlgn="base" marL="95250" marR="0" indent="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buChar char="•"/>
            </a:pPr>
            <a:r>
              <a:rPr lang="en-US" strike="noStrike" sz="18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Main teaching points]]></a:t>
            </a:r>
          </a:p>
          <a:p>
            <a:pPr algn="l" rtl="0" fontAlgn="base" marL="95250" marR="0" indent="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buChar char="•"/>
            </a:pPr>
            <a:r>
              <a:rPr lang="en-US" strike="noStrike" sz="18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Important topics]]></a:t>
            </a:r>
          </a:p>
          <a:p>
            <a:pPr algn="l" rtl="0" fontAlgn="base" marL="95250" marR="0" indent="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buChar char="•"/>
            </a:pPr>
            <a:r>
              <a:rPr lang="en-US" strike="noStrike" sz="18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Discussion points]]></a:t>
            </a:r>
          </a:p>
        </p:txBody>
      </p:sp>
      <p:pic>
        <p:nvPicPr>
          <p:cNvPr id="6" name="Logo" descr="Compan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190500"/>
            <a:ext cx="1524000" cy="5143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0191750" cy="6191250"/>
          <a:chOff x="0" y="0"/>
          <a:chExt cx="10191750" cy="6191250"/>
        </a:xfrm>
      </p:grpSpPr>
      <p:pic>
        <p:nvPicPr>
          <p:cNvPr id="2" name="Background Image" descr="Section Background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191750" cy="6191250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4953000" y="333375"/>
            <a:ext cx="4953000" cy="5524500"/>
          </a:xfrm>
          <a:prstGeom prst="rect">
            <a:avLst/>
          </a:prstGeom>
          <a:solidFill>
            <a:srgbClr val="F0F0F0">
              <a:alpha val="94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 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143500" y="476250"/>
            <a:ext cx="4572000" cy="571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Serving Lake County's Diverse Citie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143500" y="1333500"/>
            <a:ext cx="4572000" cy="428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95250" marR="0" indent="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buChar char="•"/>
            </a:pPr>
            <a:r>
              <a:rPr lang="en-US" strike="noStrike" sz="18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Key concepts to cover]]></a:t>
            </a:r>
          </a:p>
          <a:p>
            <a:pPr algn="l" rtl="0" fontAlgn="base" marL="95250" marR="0" indent="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buChar char="•"/>
            </a:pPr>
            <a:r>
              <a:rPr lang="en-US" strike="noStrike" sz="18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Main teaching points]]></a:t>
            </a:r>
          </a:p>
          <a:p>
            <a:pPr algn="l" rtl="0" fontAlgn="base" marL="95250" marR="0" indent="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buChar char="•"/>
            </a:pPr>
            <a:r>
              <a:rPr lang="en-US" strike="noStrike" sz="18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Important topics]]></a:t>
            </a:r>
          </a:p>
          <a:p>
            <a:pPr algn="l" rtl="0" fontAlgn="base" marL="95250" marR="0" indent="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buChar char="•"/>
            </a:pPr>
            <a:r>
              <a:rPr lang="en-US" strike="noStrike" sz="18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Discussion points]]></a:t>
            </a:r>
          </a:p>
        </p:txBody>
      </p:sp>
      <p:pic>
        <p:nvPicPr>
          <p:cNvPr id="6" name="Logo" descr="Compan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190500"/>
            <a:ext cx="1524000" cy="5143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0191750" cy="6191250"/>
          <a:chOff x="0" y="0"/>
          <a:chExt cx="10191750" cy="6191250"/>
        </a:xfrm>
      </p:grpSpPr>
      <p:pic>
        <p:nvPicPr>
          <p:cNvPr id="2" name="Background Image" descr="Section Background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191750" cy="6191250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4953000" y="333375"/>
            <a:ext cx="4953000" cy="5524500"/>
          </a:xfrm>
          <a:prstGeom prst="rect">
            <a:avLst/>
          </a:prstGeom>
          <a:solidFill>
            <a:srgbClr val="F0F0F0">
              <a:alpha val="94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 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143500" y="476250"/>
            <a:ext cx="4572000" cy="571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Spotlight: Clermont, Leesburg, Eusti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143500" y="1333500"/>
            <a:ext cx="4572000" cy="428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95250" marR="0" indent="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buChar char="•"/>
            </a:pPr>
            <a:r>
              <a:rPr lang="en-US" strike="noStrike" sz="18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Key concepts to cover]]></a:t>
            </a:r>
          </a:p>
          <a:p>
            <a:pPr algn="l" rtl="0" fontAlgn="base" marL="95250" marR="0" indent="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buChar char="•"/>
            </a:pPr>
            <a:r>
              <a:rPr lang="en-US" strike="noStrike" sz="18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Main teaching points]]></a:t>
            </a:r>
          </a:p>
          <a:p>
            <a:pPr algn="l" rtl="0" fontAlgn="base" marL="95250" marR="0" indent="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buChar char="•"/>
            </a:pPr>
            <a:r>
              <a:rPr lang="en-US" strike="noStrike" sz="18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Important topics]]></a:t>
            </a:r>
          </a:p>
          <a:p>
            <a:pPr algn="l" rtl="0" fontAlgn="base" marL="95250" marR="0" indent="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buChar char="•"/>
            </a:pPr>
            <a:r>
              <a:rPr lang="en-US" strike="noStrike" sz="18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Discussion points]]></a:t>
            </a:r>
          </a:p>
        </p:txBody>
      </p:sp>
      <p:pic>
        <p:nvPicPr>
          <p:cNvPr id="6" name="Logo" descr="Compan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190500"/>
            <a:ext cx="1524000" cy="5143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0191750" cy="6191250"/>
          <a:chOff x="0" y="0"/>
          <a:chExt cx="10191750" cy="6191250"/>
        </a:xfrm>
      </p:grpSpPr>
      <p:pic>
        <p:nvPicPr>
          <p:cNvPr id="2" name="Background Image" descr="Section Background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191750" cy="6191250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4953000" y="333375"/>
            <a:ext cx="4953000" cy="5524500"/>
          </a:xfrm>
          <a:prstGeom prst="rect">
            <a:avLst/>
          </a:prstGeom>
          <a:solidFill>
            <a:srgbClr val="F0F0F0">
              <a:alpha val="94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 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143500" y="476250"/>
            <a:ext cx="4572000" cy="571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Spotlight: Mount Dora, The Village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143500" y="1333500"/>
            <a:ext cx="4572000" cy="428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95250" marR="0" indent="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buChar char="•"/>
            </a:pPr>
            <a:r>
              <a:rPr lang="en-US" strike="noStrike" sz="18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Key concepts to cover]]></a:t>
            </a:r>
          </a:p>
          <a:p>
            <a:pPr algn="l" rtl="0" fontAlgn="base" marL="95250" marR="0" indent="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buChar char="•"/>
            </a:pPr>
            <a:r>
              <a:rPr lang="en-US" strike="noStrike" sz="18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Main teaching points]]></a:t>
            </a:r>
          </a:p>
          <a:p>
            <a:pPr algn="l" rtl="0" fontAlgn="base" marL="95250" marR="0" indent="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buChar char="•"/>
            </a:pPr>
            <a:r>
              <a:rPr lang="en-US" strike="noStrike" sz="18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Important topics]]></a:t>
            </a:r>
          </a:p>
          <a:p>
            <a:pPr algn="l" rtl="0" fontAlgn="base" marL="95250" marR="0" indent="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buChar char="•"/>
            </a:pPr>
            <a:r>
              <a:rPr lang="en-US" strike="noStrike" sz="18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Discussion points]]></a:t>
            </a:r>
          </a:p>
        </p:txBody>
      </p:sp>
      <p:pic>
        <p:nvPicPr>
          <p:cNvPr id="6" name="Logo" descr="Compan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190500"/>
            <a:ext cx="1524000" cy="5143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0191750" cy="6191250"/>
          <a:chOff x="0" y="0"/>
          <a:chExt cx="10191750" cy="6191250"/>
        </a:xfrm>
      </p:grpSpPr>
      <p:pic>
        <p:nvPicPr>
          <p:cNvPr id="2" name="Background Image" descr="Section Background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191750" cy="6191250"/>
          </a:xfrm>
          <a:prstGeom prst="rect">
            <a:avLst/>
          </a:prstGeom>
          <a:noFill/>
        </p:spPr>
      </p:pic>
      <p:sp>
        <p:nvSpPr>
          <p:cNvPr id="3" name=""/>
          <p:cNvSpPr txBox="1"/>
          <p:nvPr/>
        </p:nvSpPr>
        <p:spPr>
          <a:xfrm>
            <a:off x="4953000" y="333375"/>
            <a:ext cx="4953000" cy="5524500"/>
          </a:xfrm>
          <a:prstGeom prst="rect">
            <a:avLst/>
          </a:prstGeom>
          <a:solidFill>
            <a:srgbClr val="F0F0F0">
              <a:alpha val="94000"/>
            </a:srgbClr>
          </a:solidFill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 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143500" y="476250"/>
            <a:ext cx="4572000" cy="571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Getting Started: Your Next Step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143500" y="1333500"/>
            <a:ext cx="4572000" cy="428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95250" marR="0" indent="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buChar char="•"/>
            </a:pPr>
            <a:r>
              <a:rPr lang="en-US" strike="noStrike" sz="18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Key concepts to cover]]></a:t>
            </a:r>
          </a:p>
          <a:p>
            <a:pPr algn="l" rtl="0" fontAlgn="base" marL="95250" marR="0" indent="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buChar char="•"/>
            </a:pPr>
            <a:r>
              <a:rPr lang="en-US" strike="noStrike" sz="18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Main teaching points]]></a:t>
            </a:r>
          </a:p>
          <a:p>
            <a:pPr algn="l" rtl="0" fontAlgn="base" marL="95250" marR="0" indent="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buChar char="•"/>
            </a:pPr>
            <a:r>
              <a:rPr lang="en-US" strike="noStrike" sz="18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Important topics]]></a:t>
            </a:r>
          </a:p>
          <a:p>
            <a:pPr algn="l" rtl="0" fontAlgn="base" marL="95250" marR="0" indent="19050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Arial"/>
              <a:buChar char="•"/>
            </a:pPr>
            <a:r>
              <a:rPr lang="en-US" strike="noStrike" sz="1800" spc="0" u="none" cap="none">
                <a:solidFill>
                  <a:srgbClr val="333333">
                    <a:alpha val="100000"/>
                  </a:srgbClr>
                </a:solidFill>
                <a:latin typeface="Calibri"/>
              </a:rPr>
              <a:t><![CDATA[Discussion points]]></a:t>
            </a:r>
          </a:p>
        </p:txBody>
      </p:sp>
      <p:pic>
        <p:nvPicPr>
          <p:cNvPr id="6" name="Logo" descr="Compan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190500"/>
            <a:ext cx="1524000" cy="5143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81">
  <a:themeElements>
    <a:clrScheme name="Theme8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81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8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13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Open eLMS AI</dc:creator>
  <cp:lastModifiedBy>Unknown Creator</cp:lastModifiedBy>
  <dcterms:created xsi:type="dcterms:W3CDTF">2025-12-17T23:27:56Z</dcterms:created>
  <dcterms:modified xsi:type="dcterms:W3CDTF">2025-12-17T23:27:56Z</dcterms:modified>
  <dc:title>Getting Started with Lake County Local Deals</dc:title>
  <dc:description>Instructor presentation for: Getting Started with Lake County Local Deals</dc:description>
  <dc:subject/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